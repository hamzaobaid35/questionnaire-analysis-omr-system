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46357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7366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965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92215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7829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8041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236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4844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0113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2423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9611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16747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3540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42496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8514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96092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7407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312DC2-B37A-4870-B1FF-DA17B044F23D}" type="datetimeFigureOut">
              <a:rPr lang="ar-SA" smtClean="0"/>
              <a:t>12/08/46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ar-SA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806DECA-DC29-48F0-869F-2678D342CA1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821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820C1EE-B379-B4E3-C744-162C4734F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Questionnaire Analysis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16868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3676307-4A4F-6686-EC18-200E9B0BC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Introduction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C3D36FE-DCE2-5CD6-327B-7BCD30543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Objective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Develop an automated system to evaluate multiple-choice answer 	sheets 	using image processing techniques.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Problem Statement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 Manual evaluation of answer sheets is time-consuming and prone to 	errors. 	Automation can improve efficiency and accuracy.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r>
              <a:rPr lang="en-US" b="1" dirty="0">
                <a:solidFill>
                  <a:schemeClr val="tx1"/>
                </a:solidFill>
              </a:rPr>
              <a:t>Solution</a:t>
            </a:r>
          </a:p>
          <a:p>
            <a:pPr marL="0" indent="0" algn="l" rtl="0">
              <a:buNone/>
            </a:pPr>
            <a:r>
              <a:rPr lang="en-US" dirty="0">
                <a:solidFill>
                  <a:schemeClr val="tx1"/>
                </a:solidFill>
              </a:rPr>
              <a:t>	Use Python and OpenCV to preprocess, analyze, and evaluate answer sheets.</a:t>
            </a:r>
          </a:p>
          <a:p>
            <a:pPr marL="0" indent="0" algn="l" rtl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l" rtl="0">
              <a:buNone/>
            </a:pPr>
            <a:endParaRPr lang="ar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052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DABB1FA-C0BF-331C-AB7F-7F1A02B4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Tools and Libraries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E5B53DEB-5E91-6B0C-F1E7-F1882CA5A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 rtl="0"/>
            <a:r>
              <a:rPr lang="en-US" b="1" dirty="0">
                <a:solidFill>
                  <a:srgbClr val="002060"/>
                </a:solidFill>
              </a:rPr>
              <a:t>Python Libraries Used: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OpenCV</a:t>
            </a:r>
            <a:r>
              <a:rPr lang="en-US" dirty="0">
                <a:solidFill>
                  <a:schemeClr val="tx1"/>
                </a:solidFill>
              </a:rPr>
              <a:t>: Image processing and contour detection.</a:t>
            </a:r>
          </a:p>
          <a:p>
            <a:pPr lvl="1"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NumPy</a:t>
            </a:r>
            <a:r>
              <a:rPr lang="en-US" dirty="0">
                <a:solidFill>
                  <a:schemeClr val="tx1"/>
                </a:solidFill>
              </a:rPr>
              <a:t>: Numerical operations on image arrays.</a:t>
            </a:r>
          </a:p>
          <a:p>
            <a:pPr lvl="1"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Pandas</a:t>
            </a:r>
            <a:r>
              <a:rPr lang="en-US" dirty="0">
                <a:solidFill>
                  <a:schemeClr val="tx1"/>
                </a:solidFill>
              </a:rPr>
              <a:t>: Data manipulation and storage of results.</a:t>
            </a:r>
          </a:p>
          <a:p>
            <a:pPr lvl="1" algn="l" rtl="0"/>
            <a:endParaRPr lang="en-US" dirty="0">
              <a:solidFill>
                <a:schemeClr val="tx1"/>
              </a:solidFill>
            </a:endParaRPr>
          </a:p>
          <a:p>
            <a:pPr lvl="1" algn="l" rtl="0"/>
            <a:r>
              <a:rPr lang="en-US" b="1" dirty="0">
                <a:solidFill>
                  <a:schemeClr val="tx1"/>
                </a:solidFill>
              </a:rPr>
              <a:t>Matplotlib</a:t>
            </a:r>
            <a:r>
              <a:rPr lang="en-US" dirty="0">
                <a:solidFill>
                  <a:schemeClr val="tx1"/>
                </a:solidFill>
              </a:rPr>
              <a:t>: Visualization of processed images.	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algn="l" rtl="0"/>
            <a:r>
              <a:rPr lang="en-US" b="1" dirty="0">
                <a:solidFill>
                  <a:srgbClr val="002060"/>
                </a:solidFill>
              </a:rPr>
              <a:t>Environment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Notebook.</a:t>
            </a:r>
          </a:p>
          <a:p>
            <a:pPr algn="l" rtl="0"/>
            <a:endParaRPr lang="en-US" dirty="0">
              <a:solidFill>
                <a:schemeClr val="tx1"/>
              </a:solidFill>
            </a:endParaRPr>
          </a:p>
          <a:p>
            <a:pPr algn="l" rtl="0"/>
            <a:endParaRPr lang="ar-S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95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012663E-78FA-C164-ABF5-E33C003AC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Workflow Overview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01ED689-76D9-0A79-3A8C-1E5F850A7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Image Preprocessing:</a:t>
            </a:r>
          </a:p>
          <a:p>
            <a:pPr lvl="1" algn="l" rtl="0"/>
            <a:r>
              <a:rPr lang="en-US" dirty="0"/>
              <a:t>Convert image to grayscale.</a:t>
            </a:r>
          </a:p>
          <a:p>
            <a:pPr lvl="1" algn="l" rtl="0"/>
            <a:r>
              <a:rPr lang="en-US" dirty="0"/>
              <a:t>Apply binary thresholding to isolate bubbles.</a:t>
            </a:r>
          </a:p>
          <a:p>
            <a:pPr algn="l" rtl="0"/>
            <a:r>
              <a:rPr lang="en-US" dirty="0"/>
              <a:t>Contour Detection:</a:t>
            </a:r>
          </a:p>
          <a:p>
            <a:pPr lvl="1" algn="l" rtl="0"/>
            <a:r>
              <a:rPr lang="en-US" dirty="0"/>
              <a:t>Find the largest contour (assumed to be the answer sheet boundary).</a:t>
            </a:r>
          </a:p>
          <a:p>
            <a:pPr algn="l" rtl="0"/>
            <a:r>
              <a:rPr lang="en-US" dirty="0"/>
              <a:t>Perspective Correction:</a:t>
            </a:r>
          </a:p>
          <a:p>
            <a:pPr lvl="1" algn="l" rtl="0"/>
            <a:r>
              <a:rPr lang="en-US" dirty="0"/>
              <a:t>Warp the image to correct perspective distortion.</a:t>
            </a:r>
          </a:p>
          <a:p>
            <a:pPr algn="l" rtl="0"/>
            <a:endParaRPr lang="en-US" dirty="0"/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10377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4E133D1-87A8-0D47-5ACD-B2AF39DFA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Workflow Overview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DF65176-DA5E-A529-DBD3-58CDD24D0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dirty="0"/>
              <a:t>Grid Splitting:</a:t>
            </a:r>
          </a:p>
          <a:p>
            <a:pPr lvl="1" algn="l" rtl="0"/>
            <a:r>
              <a:rPr lang="en-US" dirty="0"/>
              <a:t>Split the warped image into a grid of answer boxes.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/>
              <a:t>Answer Evaluation:</a:t>
            </a:r>
          </a:p>
          <a:p>
            <a:pPr lvl="1" algn="l" rtl="0"/>
            <a:r>
              <a:rPr lang="en-US" dirty="0"/>
              <a:t>Count marked pixels to determine chosen answers.</a:t>
            </a:r>
          </a:p>
          <a:p>
            <a:pPr marL="457200" lvl="1" indent="0" algn="l" rtl="0">
              <a:buNone/>
            </a:pPr>
            <a:endParaRPr lang="en-US" dirty="0"/>
          </a:p>
          <a:p>
            <a:pPr algn="l" rtl="0"/>
            <a:r>
              <a:rPr lang="en-US" dirty="0"/>
              <a:t>Result Generation:</a:t>
            </a:r>
          </a:p>
          <a:p>
            <a:pPr lvl="1" algn="l" rtl="0"/>
            <a:r>
              <a:rPr lang="en-US" dirty="0"/>
              <a:t>Store results in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836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5430EB9-A5A4-2873-D79C-4A3BB39F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Image Preprocessing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26705F3-FD76-8F2B-9D25-62C982B6A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310326"/>
            <a:ext cx="3757545" cy="4713402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Grayscale Conversion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sz="1600" dirty="0"/>
              <a:t> Convert the image to grayscale to simplify processing.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Thresholding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sz="1600" dirty="0"/>
              <a:t>Apply binary thresholding to isolate bubbles or marked areas.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sz="1800" dirty="0"/>
              <a:t>Output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sz="1400" dirty="0"/>
              <a:t> Binary image where bubbles are highlighted.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sz="1800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sz="1800" dirty="0"/>
          </a:p>
        </p:txBody>
      </p:sp>
    </p:spTree>
    <p:extLst>
      <p:ext uri="{BB962C8B-B14F-4D97-AF65-F5344CB8AC3E}">
        <p14:creationId xmlns:p14="http://schemas.microsoft.com/office/powerpoint/2010/main" val="813002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72F2E66-EBAC-7847-5EC1-F7C52C56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Contour Detection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A42282F-551A-89F6-9CC5-723752C80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366887"/>
            <a:ext cx="3757545" cy="4562573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Largest Contour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dirty="0"/>
              <a:t>Identify the largest contour in the </a:t>
            </a:r>
            <a:r>
              <a:rPr lang="en-US" dirty="0" err="1"/>
              <a:t>thresholded</a:t>
            </a:r>
            <a:r>
              <a:rPr lang="en-US" dirty="0"/>
              <a:t> image, assumed to be the boundary of the answer sheet.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Purpose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dirty="0"/>
              <a:t>Ensure the entire answer sheet is captured for further processing.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03371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0D6B15-D5B6-6DD9-66BF-50E79FFC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Perspective Correction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12D6921-2830-DA67-88B9-B469A466B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Warping</a:t>
            </a:r>
          </a:p>
          <a:p>
            <a:pPr lvl="1" algn="l" rtl="0"/>
            <a:r>
              <a:rPr lang="en-US" dirty="0"/>
              <a:t>Correct perspective distortion to obtain a top-down view of the answer sheet.</a:t>
            </a:r>
          </a:p>
          <a:p>
            <a:pPr marL="457200" lvl="1" indent="0" algn="l" rtl="0">
              <a:buNone/>
            </a:pPr>
            <a:endParaRPr lang="en-US" dirty="0"/>
          </a:p>
          <a:p>
            <a:pPr algn="l" rtl="0"/>
            <a:r>
              <a:rPr lang="en-US" dirty="0"/>
              <a:t>Method</a:t>
            </a:r>
          </a:p>
          <a:p>
            <a:pPr lvl="1" algn="l" rtl="0"/>
            <a:r>
              <a:rPr lang="en-US" dirty="0"/>
              <a:t>Use the four corners of the largest contour to compute a perspective transform.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Output</a:t>
            </a:r>
          </a:p>
          <a:p>
            <a:pPr lvl="1" algn="l" rtl="0"/>
            <a:r>
              <a:rPr lang="en-US" dirty="0"/>
              <a:t>Warped image with a uniform perspective.</a:t>
            </a:r>
          </a:p>
          <a:p>
            <a:pPr algn="l" rtl="0"/>
            <a:endParaRPr lang="en-US" dirty="0"/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2415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6C3CC7B-870E-C9FA-A356-032063AC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Grid Splitting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649FBD0-0AEF-AA89-8D50-53CD7FFB3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2120" y="1706252"/>
            <a:ext cx="3757545" cy="4006391"/>
          </a:xfrm>
        </p:spPr>
        <p:txBody>
          <a:bodyPr/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Grid Creation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dirty="0"/>
              <a:t>Split the warped image into a grid of boxes, each corresponding to a specific question and choice.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Purpose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dirty="0"/>
              <a:t>Isolate each answer bubble for individual evaluation.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108657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768E0F2-7E30-516F-B20D-463730C9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Answer Evaluation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8204929-C925-C809-4A08-4E0B8BAA6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Pixel Counting</a:t>
            </a:r>
          </a:p>
          <a:p>
            <a:pPr lvl="1" algn="l" rtl="0"/>
            <a:r>
              <a:rPr lang="en-US" dirty="0"/>
              <a:t>Count the number of marked pixels in each box to determine the chosen answer.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Thresholding</a:t>
            </a:r>
          </a:p>
          <a:p>
            <a:pPr lvl="1" algn="l" rtl="0"/>
            <a:r>
              <a:rPr lang="en-US" dirty="0"/>
              <a:t>Use a threshold to detect marked bubbles.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Output</a:t>
            </a:r>
          </a:p>
          <a:p>
            <a:pPr lvl="1" algn="l" rtl="0"/>
            <a:r>
              <a:rPr lang="en-US" dirty="0"/>
              <a:t>List of marked answers for each question.</a:t>
            </a:r>
          </a:p>
          <a:p>
            <a:pPr algn="l" rtl="0"/>
            <a:endParaRPr lang="en-US" dirty="0"/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51988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D1507B-794D-DEAE-688E-F5E147FB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Result Generation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4F559489-30BB-E6CA-1D08-6375E33B6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282045"/>
            <a:ext cx="3757545" cy="4440025"/>
          </a:xfrm>
        </p:spPr>
        <p:txBody>
          <a:bodyPr>
            <a:normAutofit/>
          </a:bodyPr>
          <a:lstStyle/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 err="1"/>
              <a:t>DataFrame</a:t>
            </a:r>
            <a:endParaRPr lang="en-US" dirty="0"/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dirty="0"/>
              <a:t>Store the results (question number and corresponding answer) in a Pandas </a:t>
            </a:r>
            <a:r>
              <a:rPr lang="en-US" dirty="0" err="1"/>
              <a:t>DataFrame</a:t>
            </a:r>
            <a:r>
              <a:rPr lang="en-US" dirty="0"/>
              <a:t>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r>
              <a:rPr lang="en-US" dirty="0"/>
              <a:t>Visualization</a:t>
            </a:r>
          </a:p>
          <a:p>
            <a:pPr marL="800100" lvl="1" indent="-342900" algn="r" rtl="0">
              <a:buFont typeface="Wingdings" panose="05000000000000000000" pitchFamily="2" charset="2"/>
              <a:buChar char="Ø"/>
            </a:pPr>
            <a:r>
              <a:rPr lang="en-US" dirty="0"/>
              <a:t>Display the original, grayscale, </a:t>
            </a:r>
            <a:r>
              <a:rPr lang="en-US" dirty="0" err="1"/>
              <a:t>thresholded</a:t>
            </a:r>
            <a:r>
              <a:rPr lang="en-US" dirty="0"/>
              <a:t>, and warped images for verification.</a:t>
            </a:r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 rtl="0">
              <a:buFont typeface="Wingdings" panose="05000000000000000000" pitchFamily="2" charset="2"/>
              <a:buChar char="Ø"/>
            </a:pP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40538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93EBBD2-5BE7-F2FE-B5B1-A5181CBC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C4FCC9C1-1499-03E0-A400-C179EC947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Uniform Layout Assumption</a:t>
            </a:r>
          </a:p>
          <a:p>
            <a:pPr lvl="1" algn="l" rtl="0"/>
            <a:r>
              <a:rPr lang="en-US" dirty="0"/>
              <a:t>Assumes a consistent answer sheet design; deviations can affect accuracy.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/>
              <a:t>Threshold Sensitivity</a:t>
            </a:r>
          </a:p>
          <a:p>
            <a:pPr lvl="1" algn="l" rtl="0"/>
            <a:r>
              <a:rPr lang="en-US" dirty="0"/>
              <a:t>Fixed threshold values may not capture all marked answers, especially if markings are faint.</a:t>
            </a:r>
          </a:p>
          <a:p>
            <a:pPr lvl="1" algn="l" rtl="0"/>
            <a:endParaRPr lang="en-US" dirty="0"/>
          </a:p>
          <a:p>
            <a:pPr algn="l" rtl="0"/>
            <a:r>
              <a:rPr lang="en-US" dirty="0"/>
              <a:t>Adaptability</a:t>
            </a:r>
          </a:p>
          <a:p>
            <a:pPr lvl="1" algn="l" rtl="0"/>
            <a:r>
              <a:rPr lang="en-US" dirty="0"/>
              <a:t>Limited support for diverse answer sheet formats without code modifications.</a:t>
            </a:r>
          </a:p>
          <a:p>
            <a:pPr algn="l" rtl="0"/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32188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933B44C-37A3-522D-BF17-789E8B0C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Conclusion</a:t>
            </a:r>
            <a:br>
              <a:rPr lang="en-US" b="1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752F879-703E-EBC4-1DFF-033831C13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rtl="0"/>
            <a:r>
              <a:rPr lang="en-US" dirty="0"/>
              <a:t>Summary</a:t>
            </a:r>
          </a:p>
          <a:p>
            <a:pPr lvl="1" algn="l" rtl="0"/>
            <a:r>
              <a:rPr lang="en-US" dirty="0"/>
              <a:t>The project successfully automates the evaluation of multiple-choice answer sheets using image processing techniques.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Future Work:</a:t>
            </a:r>
          </a:p>
          <a:p>
            <a:pPr lvl="1" algn="l" rtl="0"/>
            <a:r>
              <a:rPr lang="en-US" dirty="0"/>
              <a:t>Improve accuracy by handling more complex answer sheets.</a:t>
            </a:r>
          </a:p>
          <a:p>
            <a:pPr lvl="1" algn="l" rtl="0"/>
            <a:r>
              <a:rPr lang="en-US" dirty="0"/>
              <a:t>Extend the system to evaluate different types of answer sheets.</a:t>
            </a:r>
          </a:p>
          <a:p>
            <a:pPr marL="457200" lvl="1" indent="0" algn="l" rtl="0">
              <a:buNone/>
            </a:pPr>
            <a:endParaRPr lang="en-US" dirty="0"/>
          </a:p>
          <a:p>
            <a:pPr algn="l" rtl="0"/>
            <a:r>
              <a:rPr lang="en-US" dirty="0"/>
              <a:t>Impact</a:t>
            </a:r>
          </a:p>
          <a:p>
            <a:pPr lvl="1" algn="l" rtl="0"/>
            <a:r>
              <a:rPr lang="en-US" dirty="0"/>
              <a:t>Reduces manual effort and increases evaluation accuracy.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022703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1D03FFA-6891-DBF9-85BC-8C1FEC95B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i="0" dirty="0">
                <a:solidFill>
                  <a:srgbClr val="F8FAFF"/>
                </a:solidFill>
                <a:effectLst/>
                <a:latin typeface="Inter"/>
              </a:rPr>
              <a:t>Thank You!</a:t>
            </a:r>
            <a:br>
              <a:rPr lang="en-US" b="0" i="0" dirty="0">
                <a:solidFill>
                  <a:srgbClr val="F8FAFF"/>
                </a:solidFill>
                <a:effectLst/>
                <a:latin typeface="Inter"/>
              </a:rPr>
            </a:b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02083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مجلس إدارة أيون">
  <a:themeElements>
    <a:clrScheme name="مجلس إدارة أيون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مجلس إدارة أيون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مجلس إدارة أيون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121</TotalTime>
  <Words>508</Words>
  <Application>Microsoft Office PowerPoint</Application>
  <PresentationFormat>شاشة عريضة</PresentationFormat>
  <Paragraphs>104</Paragraphs>
  <Slides>14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20" baseType="lpstr">
      <vt:lpstr>Arial</vt:lpstr>
      <vt:lpstr>Century Gothic</vt:lpstr>
      <vt:lpstr>Inter</vt:lpstr>
      <vt:lpstr>Wingdings</vt:lpstr>
      <vt:lpstr>Wingdings 3</vt:lpstr>
      <vt:lpstr>مجلس إدارة أيون</vt:lpstr>
      <vt:lpstr>Questionnaire Analysis</vt:lpstr>
      <vt:lpstr>Introduction </vt:lpstr>
      <vt:lpstr>Tools and Libraries </vt:lpstr>
      <vt:lpstr>Workflow Overview </vt:lpstr>
      <vt:lpstr>Workflow Overview </vt:lpstr>
      <vt:lpstr>Image Preprocessing </vt:lpstr>
      <vt:lpstr>Contour Detection </vt:lpstr>
      <vt:lpstr>Perspective Correction </vt:lpstr>
      <vt:lpstr>Grid Splitting </vt:lpstr>
      <vt:lpstr>Answer Evaluation </vt:lpstr>
      <vt:lpstr>Result Generation </vt:lpstr>
      <vt:lpstr>Limitations</vt:lpstr>
      <vt:lpstr>Conclusion 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Hamza Mohammed</dc:creator>
  <cp:lastModifiedBy>Hamza Mohammed</cp:lastModifiedBy>
  <cp:revision>1</cp:revision>
  <dcterms:created xsi:type="dcterms:W3CDTF">2025-02-10T15:13:43Z</dcterms:created>
  <dcterms:modified xsi:type="dcterms:W3CDTF">2025-02-10T17:15:39Z</dcterms:modified>
</cp:coreProperties>
</file>